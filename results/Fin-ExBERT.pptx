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23"/>
  </p:notesMasterIdLst>
  <p:handoutMasterIdLst>
    <p:handoutMasterId r:id="rId24"/>
  </p:handoutMasterIdLst>
  <p:sldIdLst>
    <p:sldId id="376" r:id="rId5"/>
    <p:sldId id="389" r:id="rId6"/>
    <p:sldId id="378" r:id="rId7"/>
    <p:sldId id="379" r:id="rId8"/>
    <p:sldId id="380" r:id="rId9"/>
    <p:sldId id="381" r:id="rId10"/>
    <p:sldId id="383" r:id="rId11"/>
    <p:sldId id="384" r:id="rId12"/>
    <p:sldId id="390" r:id="rId13"/>
    <p:sldId id="391" r:id="rId14"/>
    <p:sldId id="386" r:id="rId15"/>
    <p:sldId id="388" r:id="rId16"/>
    <p:sldId id="393" r:id="rId17"/>
    <p:sldId id="394" r:id="rId18"/>
    <p:sldId id="392" r:id="rId19"/>
    <p:sldId id="395" r:id="rId20"/>
    <p:sldId id="396" r:id="rId21"/>
    <p:sldId id="3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BE8D5-84C7-4B0B-AA72-29A94571D344}" v="78" dt="2025-07-31T10:11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7/31/2025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1:23.99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0,'874'0'0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1:34.4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0,'4756'0'0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1:51.20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 0,'2442'-14'0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2:29.99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0,'4261'0'0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2:48.0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0,'4501'14'0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8T09:42:52.5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 0,'1651'-29'0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7/31/2025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3.xml"/><Relationship Id="rId18" Type="http://schemas.openxmlformats.org/officeDocument/2006/relationships/image" Target="../media/image25.png"/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17" Type="http://schemas.openxmlformats.org/officeDocument/2006/relationships/customXml" Target="../ink/ink5.xml"/><Relationship Id="rId2" Type="http://schemas.openxmlformats.org/officeDocument/2006/relationships/image" Target="../media/image3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customXml" Target="../ink/ink2.xml"/><Relationship Id="rId5" Type="http://schemas.openxmlformats.org/officeDocument/2006/relationships/image" Target="../media/image17.png"/><Relationship Id="rId15" Type="http://schemas.openxmlformats.org/officeDocument/2006/relationships/customXml" Target="../ink/ink4.xml"/><Relationship Id="rId10" Type="http://schemas.openxmlformats.org/officeDocument/2006/relationships/image" Target="../media/image21.png"/><Relationship Id="rId19" Type="http://schemas.openxmlformats.org/officeDocument/2006/relationships/customXml" Target="../ink/ink6.xml"/><Relationship Id="rId4" Type="http://schemas.openxmlformats.org/officeDocument/2006/relationships/image" Target="../media/image16.png"/><Relationship Id="rId9" Type="http://schemas.openxmlformats.org/officeDocument/2006/relationships/customXml" Target="../ink/ink1.xml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emf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9890" y="723440"/>
            <a:ext cx="4323426" cy="2579052"/>
          </a:xfrm>
        </p:spPr>
        <p:txBody>
          <a:bodyPr/>
          <a:lstStyle/>
          <a:p>
            <a:r>
              <a:rPr lang="en-US" dirty="0"/>
              <a:t>Fin-</a:t>
            </a:r>
            <a:r>
              <a:rPr lang="en-US" dirty="0" err="1"/>
              <a:t>ExBERT</a:t>
            </a:r>
            <a:endParaRPr lang="en-US" dirty="0"/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txBody>
          <a:bodyPr/>
          <a:lstStyle/>
          <a:p>
            <a:r>
              <a:rPr lang="en-US" dirty="0"/>
              <a:t>Soumick </a:t>
            </a:r>
            <a:r>
              <a:rPr lang="en-US" dirty="0" err="1"/>
              <a:t>sarker</a:t>
            </a:r>
            <a:endParaRPr lang="en-US" dirty="0"/>
          </a:p>
          <a:p>
            <a:r>
              <a:rPr lang="en-US" dirty="0"/>
              <a:t>Abhijit </a:t>
            </a:r>
            <a:r>
              <a:rPr lang="en-US" dirty="0" err="1"/>
              <a:t>kumar</a:t>
            </a:r>
            <a:r>
              <a:rPr lang="en-US" dirty="0"/>
              <a:t> rai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9274" y="3373515"/>
            <a:ext cx="4323426" cy="1008926"/>
          </a:xfrm>
        </p:spPr>
        <p:txBody>
          <a:bodyPr/>
          <a:lstStyle/>
          <a:p>
            <a:r>
              <a:rPr lang="en-US" sz="1600" dirty="0"/>
              <a:t>User Intent-Based Text Extraction in Financial Contexts Using Graph-Augmented BERT and Trainable Plugin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E7954BA-30FA-2D96-144E-6A0149BDD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52"/>
          <a:stretch>
            <a:fillRect/>
          </a:stretch>
        </p:blipFill>
        <p:spPr bwMode="auto">
          <a:xfrm>
            <a:off x="0" y="15435"/>
            <a:ext cx="38640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38BFB8F-C1A6-1D85-C8E4-07E6A6655CF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17858" b="17858"/>
          <a:stretch/>
        </p:blipFill>
        <p:spPr>
          <a:xfrm>
            <a:off x="0" y="-2235"/>
            <a:ext cx="5840730" cy="6875670"/>
          </a:xfrm>
        </p:spPr>
      </p:pic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82" descr="A person writing at a desk&#10;">
            <a:extLst>
              <a:ext uri="{FF2B5EF4-FFF2-40B4-BE49-F238E27FC236}">
                <a16:creationId xmlns:a16="http://schemas.microsoft.com/office/drawing/2014/main" id="{79723FB2-CDBE-ABDD-9BC6-1E8D5204E7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92E10BC-24CF-FA22-F0EC-E5731180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Fin-</a:t>
            </a:r>
            <a:r>
              <a:rPr lang="en-US" dirty="0" err="1"/>
              <a:t>Exbert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7531601" cy="1017147"/>
          </a:xfrm>
        </p:spPr>
        <p:txBody>
          <a:bodyPr>
            <a:noAutofit/>
          </a:bodyPr>
          <a:lstStyle/>
          <a:p>
            <a:r>
              <a:rPr lang="en-US" sz="3200" b="1" dirty="0"/>
              <a:t>Objectives of Intent based text Extraction Tasks in Financial context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8DE473A7-AFD5-0673-B215-E3AB9B1ED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151" y="2990515"/>
            <a:ext cx="813189" cy="87696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533B437-D9A2-A2DD-24CA-3EA50519524D}"/>
              </a:ext>
            </a:extLst>
          </p:cNvPr>
          <p:cNvSpPr txBox="1"/>
          <p:nvPr/>
        </p:nvSpPr>
        <p:spPr>
          <a:xfrm>
            <a:off x="760556" y="2045258"/>
            <a:ext cx="260318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Implicit meaning:</a:t>
            </a:r>
            <a:br>
              <a:rPr lang="en-IN" sz="1400" dirty="0"/>
            </a:br>
            <a:r>
              <a:rPr lang="en-IN" sz="1400" dirty="0"/>
              <a:t>Dubious meanings or margin calls in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D8D3B7-E479-A22F-8DBF-5BADF509A59E}"/>
              </a:ext>
            </a:extLst>
          </p:cNvPr>
          <p:cNvSpPr txBox="1"/>
          <p:nvPr/>
        </p:nvSpPr>
        <p:spPr>
          <a:xfrm>
            <a:off x="250625" y="3128820"/>
            <a:ext cx="2019701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Domain specific terminology:</a:t>
            </a:r>
            <a:br>
              <a:rPr lang="en-IN" sz="1400" dirty="0"/>
            </a:br>
            <a:r>
              <a:rPr lang="en-IN" sz="1400" dirty="0"/>
              <a:t>401k, 529 etc.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F9CC73-ED33-499D-1649-2EC3F1C77182}"/>
              </a:ext>
            </a:extLst>
          </p:cNvPr>
          <p:cNvSpPr txBox="1"/>
          <p:nvPr/>
        </p:nvSpPr>
        <p:spPr>
          <a:xfrm>
            <a:off x="760555" y="4067918"/>
            <a:ext cx="260318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Accuracy concerns:</a:t>
            </a:r>
            <a:br>
              <a:rPr lang="en-IN" sz="1400" dirty="0"/>
            </a:br>
            <a:r>
              <a:rPr lang="en-IN" sz="1400" dirty="0"/>
              <a:t>Precision is the most important metric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663EFD-8253-99C8-C6F7-455FEAFF2D69}"/>
              </a:ext>
            </a:extLst>
          </p:cNvPr>
          <p:cNvSpPr txBox="1"/>
          <p:nvPr/>
        </p:nvSpPr>
        <p:spPr>
          <a:xfrm>
            <a:off x="3570418" y="2045258"/>
            <a:ext cx="260318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Latency challenges:</a:t>
            </a:r>
            <a:br>
              <a:rPr lang="en-IN" sz="1400" dirty="0"/>
            </a:br>
            <a:r>
              <a:rPr lang="en-IN" sz="1400" dirty="0"/>
              <a:t>Large text corpus may lead to a larger processing time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C4633B-970E-6F6D-AA86-C2C08EA75EC0}"/>
              </a:ext>
            </a:extLst>
          </p:cNvPr>
          <p:cNvSpPr txBox="1"/>
          <p:nvPr/>
        </p:nvSpPr>
        <p:spPr>
          <a:xfrm>
            <a:off x="4457165" y="3049308"/>
            <a:ext cx="260318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Hardware issues:</a:t>
            </a:r>
            <a:br>
              <a:rPr lang="en-IN" sz="1400" dirty="0"/>
            </a:br>
            <a:r>
              <a:rPr lang="en-IN" sz="1400" dirty="0"/>
              <a:t>Specific task model. No need an LLM for this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DA3AC4-41B8-18A6-1B55-2707D184210B}"/>
              </a:ext>
            </a:extLst>
          </p:cNvPr>
          <p:cNvSpPr txBox="1"/>
          <p:nvPr/>
        </p:nvSpPr>
        <p:spPr>
          <a:xfrm>
            <a:off x="3606509" y="4069311"/>
            <a:ext cx="315058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Customizable learning:</a:t>
            </a:r>
            <a:br>
              <a:rPr lang="en-IN" sz="1400" dirty="0"/>
            </a:br>
            <a:r>
              <a:rPr lang="en-IN" sz="1400" dirty="0"/>
              <a:t>Either use a unsupervised or few shot approach for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425597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Gaps in Modern Techniques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5540" y="3514775"/>
            <a:ext cx="4786877" cy="763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whole point is to avoid LLMs so that’s what we will do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91432" y="4497698"/>
            <a:ext cx="4319467" cy="2052058"/>
          </a:xfrm>
        </p:spPr>
        <p:txBody>
          <a:bodyPr>
            <a:normAutofit/>
          </a:bodyPr>
          <a:lstStyle/>
          <a:p>
            <a:r>
              <a:rPr lang="en-US" dirty="0"/>
              <a:t>Most methods go with pattern matching rather than actual context reasoning</a:t>
            </a:r>
          </a:p>
          <a:p>
            <a:r>
              <a:rPr lang="en-US" dirty="0"/>
              <a:t>Multi-turn dialogues in texts often cause a mode collapse while training modern models.</a:t>
            </a:r>
          </a:p>
          <a:p>
            <a:r>
              <a:rPr lang="en-US" dirty="0"/>
              <a:t>Models like </a:t>
            </a:r>
            <a:r>
              <a:rPr lang="en-US" dirty="0" err="1"/>
              <a:t>FinGPT</a:t>
            </a:r>
            <a:r>
              <a:rPr lang="en-US" dirty="0"/>
              <a:t> and </a:t>
            </a:r>
            <a:r>
              <a:rPr lang="en-US" dirty="0" err="1"/>
              <a:t>FinBERT</a:t>
            </a:r>
            <a:r>
              <a:rPr lang="en-US" dirty="0"/>
              <a:t> are mostly sentiment analysis models and are unable to capture contexts based on intent.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76F24FF-516B-74F8-D5CF-40D3A44846A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554" r="16554"/>
          <a:stretch/>
        </p:blipFill>
        <p:spPr/>
      </p:pic>
      <p:sp>
        <p:nvSpPr>
          <p:cNvPr id="4" name="AutoShape 4" descr="What Is Research Gap And How To Identify It?">
            <a:extLst>
              <a:ext uri="{FF2B5EF4-FFF2-40B4-BE49-F238E27FC236}">
                <a16:creationId xmlns:a16="http://schemas.microsoft.com/office/drawing/2014/main" id="{7FE942FB-CD9B-C427-9C8B-9575915960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What Is Research Gap And How To Identify It?">
            <a:extLst>
              <a:ext uri="{FF2B5EF4-FFF2-40B4-BE49-F238E27FC236}">
                <a16:creationId xmlns:a16="http://schemas.microsoft.com/office/drawing/2014/main" id="{8CC34750-92EB-390A-5760-4DEC9C793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401002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2E9848E-ED8C-860F-2390-896C5B264B64}"/>
              </a:ext>
            </a:extLst>
          </p:cNvPr>
          <p:cNvSpPr txBox="1">
            <a:spLocks/>
          </p:cNvSpPr>
          <p:nvPr/>
        </p:nvSpPr>
        <p:spPr>
          <a:xfrm>
            <a:off x="6691432" y="2515679"/>
            <a:ext cx="4400852" cy="936412"/>
          </a:xfrm>
          <a:prstGeom prst="rect">
            <a:avLst/>
          </a:prstGeom>
        </p:spPr>
        <p:txBody>
          <a:bodyPr vert="horz" lIns="91440" tIns="0" rIns="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LLMs are heavy and they will give you more than what you asked for. They are suited for QA tasks but text span extraction is a different ball game.</a:t>
            </a:r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5869949" cy="1524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Inference Examples: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sz="2400" dirty="0"/>
              <a:t>How the model extracts target spans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Fin-</a:t>
            </a:r>
            <a:r>
              <a:rPr lang="en-US" dirty="0" err="1"/>
              <a:t>exbert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E929-2FB3-2AE1-2B1F-95FB4E449A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2052" name="Picture 4" descr="Abstractive Summarization of Long Medical Documents with Transformers">
            <a:extLst>
              <a:ext uri="{FF2B5EF4-FFF2-40B4-BE49-F238E27FC236}">
                <a16:creationId xmlns:a16="http://schemas.microsoft.com/office/drawing/2014/main" id="{74BEE54C-4348-BA3F-86E7-C2587E8E8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782"/>
          <a:stretch>
            <a:fillRect/>
          </a:stretch>
        </p:blipFill>
        <p:spPr bwMode="auto">
          <a:xfrm>
            <a:off x="6803923" y="-23140"/>
            <a:ext cx="5384593" cy="690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065AFF-EB8E-FCB0-EE72-0CBC9D9823D4}"/>
              </a:ext>
            </a:extLst>
          </p:cNvPr>
          <p:cNvSpPr/>
          <p:nvPr/>
        </p:nvSpPr>
        <p:spPr>
          <a:xfrm>
            <a:off x="11602065" y="3429000"/>
            <a:ext cx="586451" cy="621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6266E9-6698-4461-1CE4-F120515F3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" y="2154878"/>
            <a:ext cx="2532498" cy="1778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3BFD18-3511-1AD5-0507-D95D96639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226" y="2154878"/>
            <a:ext cx="2700797" cy="1778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5098AC-C53B-FDBD-1CD8-69053BE16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" y="4201912"/>
            <a:ext cx="2560615" cy="15597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F38AFA-133F-3E6D-AFD2-865666F7C1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327" y="4201912"/>
            <a:ext cx="2666673" cy="15597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17BDC90-FD53-D585-5165-A3D3E6793403}"/>
                  </a:ext>
                </a:extLst>
              </p14:cNvPr>
              <p14:cNvContentPartPr/>
              <p14:nvPr/>
            </p14:nvContentPartPr>
            <p14:xfrm>
              <a:off x="2641680" y="2895520"/>
              <a:ext cx="31500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17BDC90-FD53-D585-5165-A3D3E67934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05680" y="2823520"/>
                <a:ext cx="386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CE886E4-C207-5BBD-3BFF-ED4FEEA6529E}"/>
                  </a:ext>
                </a:extLst>
              </p14:cNvPr>
              <p14:cNvContentPartPr/>
              <p14:nvPr/>
            </p14:nvContentPartPr>
            <p14:xfrm>
              <a:off x="827640" y="3012160"/>
              <a:ext cx="171252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CE886E4-C207-5BBD-3BFF-ED4FEEA652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2000" y="2868160"/>
                <a:ext cx="1784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B276C93-9C8E-5131-7BAB-CF50EE5A2633}"/>
                  </a:ext>
                </a:extLst>
              </p14:cNvPr>
              <p14:cNvContentPartPr/>
              <p14:nvPr/>
            </p14:nvContentPartPr>
            <p14:xfrm>
              <a:off x="4327920" y="2697160"/>
              <a:ext cx="879480" cy="5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B276C93-9C8E-5131-7BAB-CF50EE5A263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91920" y="2625520"/>
                <a:ext cx="951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3CD2E08-6845-3149-269B-61799B12D0A8}"/>
                  </a:ext>
                </a:extLst>
              </p14:cNvPr>
              <p14:cNvContentPartPr/>
              <p14:nvPr/>
            </p14:nvContentPartPr>
            <p14:xfrm>
              <a:off x="1341000" y="4698520"/>
              <a:ext cx="153432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3CD2E08-6845-3149-269B-61799B12D0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05000" y="4626880"/>
                <a:ext cx="1605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FEAFC81-2F4D-0854-2737-3555F85358A4}"/>
                  </a:ext>
                </a:extLst>
              </p14:cNvPr>
              <p14:cNvContentPartPr/>
              <p14:nvPr/>
            </p14:nvContentPartPr>
            <p14:xfrm>
              <a:off x="4267080" y="4708960"/>
              <a:ext cx="1620720" cy="5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FEAFC81-2F4D-0854-2737-3555F85358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31080" y="4636960"/>
                <a:ext cx="16923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117A457-D708-23EA-C7E2-1B75B2AA2AD6}"/>
                  </a:ext>
                </a:extLst>
              </p14:cNvPr>
              <p14:cNvContentPartPr/>
              <p14:nvPr/>
            </p14:nvContentPartPr>
            <p14:xfrm>
              <a:off x="3642120" y="4820560"/>
              <a:ext cx="594720" cy="10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117A457-D708-23EA-C7E2-1B75B2AA2AD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06120" y="4748560"/>
                <a:ext cx="666360" cy="1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E0F2054-FE7E-B49A-E17F-5DE1864D8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Methodology: </a:t>
            </a:r>
            <a:r>
              <a:rPr lang="en-US" dirty="0"/>
              <a:t>Overall Architecture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3072B06-F7AD-6E16-F613-A0F0BE7359E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B0B9B98-C238-BEFF-6144-048120AED9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E980145-9EE7-AD8A-F23C-1DE03783399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F93F639-0FB6-4235-5A13-5D4108F544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DDEAD41-2375-F1DA-3FCA-BB7F5A8FDB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22682C3-DE5C-F575-AD59-3498ED7F51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A6017-3B10-07E9-8C72-59CD4B49C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Fin-</a:t>
            </a:r>
            <a:r>
              <a:rPr lang="en-US" dirty="0" err="1"/>
              <a:t>Exbert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8C54-1820-3B00-1C96-88D7349F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1EF105-497F-4EFD-8E5D-D4573ED81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F08D551-B30D-FCB1-C8B2-0160EC530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AA2D64-53A7-BC77-FBA2-EC723D31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4AD85B2-B7F9-5D63-022F-8599EB84B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42" y="1818269"/>
            <a:ext cx="11674515" cy="41019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8121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Distinct Segments of </a:t>
            </a:r>
            <a:r>
              <a:rPr lang="en-US" dirty="0"/>
              <a:t>The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800" dirty="0"/>
              <a:t>Base Model</a:t>
            </a:r>
            <a:br>
              <a:rPr lang="en-US" sz="1800" dirty="0"/>
            </a:br>
            <a:r>
              <a:rPr lang="en-US" sz="1100" dirty="0"/>
              <a:t>(general context understanding)</a:t>
            </a:r>
            <a:endParaRPr lang="en-US" sz="1800" dirty="0"/>
          </a:p>
        </p:txBody>
      </p:sp>
      <p:pic>
        <p:nvPicPr>
          <p:cNvPr id="51" name="Picture Placeholder 50" descr="Abacus">
            <a:extLst>
              <a:ext uri="{FF2B5EF4-FFF2-40B4-BE49-F238E27FC236}">
                <a16:creationId xmlns:a16="http://schemas.microsoft.com/office/drawing/2014/main" id="{F1A5F630-1971-68D5-BEDA-6FC11471C8E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02" b="4502"/>
          <a:stretch/>
        </p:blipFill>
        <p:spPr>
          <a:xfrm>
            <a:off x="2239419" y="2833688"/>
            <a:ext cx="1005840" cy="914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/>
          <a:lstStyle/>
          <a:p>
            <a:pPr lvl="0"/>
            <a:r>
              <a:rPr lang="en-US" dirty="0"/>
              <a:t>A base model for contextual understanding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600" dirty="0"/>
              <a:t>Financial Domain Adaptation</a:t>
            </a:r>
          </a:p>
        </p:txBody>
      </p:sp>
      <p:pic>
        <p:nvPicPr>
          <p:cNvPr id="53" name="Picture Placeholder 52" descr="3d Glasses">
            <a:extLst>
              <a:ext uri="{FF2B5EF4-FFF2-40B4-BE49-F238E27FC236}">
                <a16:creationId xmlns:a16="http://schemas.microsoft.com/office/drawing/2014/main" id="{6D152620-03B9-AECD-503A-E23309285EA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574" b="4574"/>
          <a:stretch/>
        </p:blipFill>
        <p:spPr>
          <a:xfrm>
            <a:off x="5572159" y="2954840"/>
            <a:ext cx="1005840" cy="9144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/>
          <a:lstStyle/>
          <a:p>
            <a:r>
              <a:rPr lang="en-US" dirty="0"/>
              <a:t>To catch financial nuances and terminology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600" dirty="0"/>
              <a:t>Span Extraction Head (Plugin)</a:t>
            </a:r>
          </a:p>
        </p:txBody>
      </p:sp>
      <p:pic>
        <p:nvPicPr>
          <p:cNvPr id="55" name="Picture Placeholder 54" descr="Circuit">
            <a:extLst>
              <a:ext uri="{FF2B5EF4-FFF2-40B4-BE49-F238E27FC236}">
                <a16:creationId xmlns:a16="http://schemas.microsoft.com/office/drawing/2014/main" id="{415585AE-96E0-81D6-0A31-2A13ECB7680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02" b="4502"/>
          <a:stretch/>
        </p:blipFill>
        <p:spPr>
          <a:xfrm>
            <a:off x="8916470" y="2833688"/>
            <a:ext cx="1005840" cy="9144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82868" y="3989404"/>
            <a:ext cx="2275880" cy="893763"/>
          </a:xfrm>
        </p:spPr>
        <p:txBody>
          <a:bodyPr/>
          <a:lstStyle/>
          <a:p>
            <a:pPr lvl="0"/>
            <a:r>
              <a:rPr lang="en-US" dirty="0"/>
              <a:t>A tunable plugin for extraction of target text span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D95B7FE7-061C-CB17-DE55-45FD76488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4" t="10466" r="22304" b="13548"/>
          <a:stretch>
            <a:fillRect/>
          </a:stretch>
        </p:blipFill>
        <p:spPr bwMode="auto">
          <a:xfrm>
            <a:off x="2305937" y="2792115"/>
            <a:ext cx="872804" cy="119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4" descr="Generated image">
            <a:extLst>
              <a:ext uri="{FF2B5EF4-FFF2-40B4-BE49-F238E27FC236}">
                <a16:creationId xmlns:a16="http://schemas.microsoft.com/office/drawing/2014/main" id="{96B1D709-90FB-7AC4-589E-04160C372A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D3BC81-1F2E-C56F-4FF7-3E4866AF5516}"/>
              </a:ext>
            </a:extLst>
          </p:cNvPr>
          <p:cNvSpPr/>
          <p:nvPr/>
        </p:nvSpPr>
        <p:spPr>
          <a:xfrm>
            <a:off x="5476568" y="3057832"/>
            <a:ext cx="1101431" cy="8114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BBD80FC9-0EAF-BAB6-B451-323FD19B8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345" y="2815802"/>
            <a:ext cx="1295467" cy="129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F7CB0F-148D-75BC-50F1-0EC98E012E50}"/>
              </a:ext>
            </a:extLst>
          </p:cNvPr>
          <p:cNvSpPr/>
          <p:nvPr/>
        </p:nvSpPr>
        <p:spPr>
          <a:xfrm>
            <a:off x="8916470" y="2833688"/>
            <a:ext cx="1036111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9828EF5C-8203-13B2-E69C-FF7D6A97F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345" y="2690579"/>
            <a:ext cx="1400359" cy="140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0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7EE4-0F77-0173-AC5A-9FBAE6AE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408820"/>
            <a:ext cx="8935507" cy="949467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Segment 1: </a:t>
            </a:r>
            <a:r>
              <a:rPr lang="en-US" dirty="0"/>
              <a:t>The Base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5D52-89FB-5227-DA15-3BABC4DF027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3" y="1986060"/>
            <a:ext cx="2605638" cy="4562223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u="sng" dirty="0"/>
              <a:t>Some </a:t>
            </a:r>
            <a:r>
              <a:rPr lang="en-US" sz="1800" b="1" u="sng" dirty="0" err="1"/>
              <a:t>Keypoints</a:t>
            </a:r>
            <a:r>
              <a:rPr lang="en-US" sz="1800" b="1" u="sng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Utilization of BERT for contextual embeddings</a:t>
            </a:r>
            <a:br>
              <a:rPr lang="en-US" dirty="0"/>
            </a:br>
            <a:r>
              <a:rPr lang="en-US" dirty="0"/>
              <a:t>The BERT encoder provides context-aware embeddings for understanding complex text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Incorporation of a GNN component</a:t>
            </a:r>
            <a:br>
              <a:rPr lang="en-US" dirty="0"/>
            </a:br>
            <a:r>
              <a:rPr lang="en-US" dirty="0"/>
              <a:t>The GNN component allows for better data insights and interpretation.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Training of the Base Model</a:t>
            </a:r>
            <a:br>
              <a:rPr lang="en-US" dirty="0"/>
            </a:br>
            <a:r>
              <a:rPr lang="en-US" dirty="0"/>
              <a:t>The Base model was trained on the Stanford Natural Language Inference Dataset (SNLI). It has a premise-hypothesis structure giving us a gateway to the intent-text corpus pairing task.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1CD4-3111-5E9F-7893-9B96015B8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3DF1B8-48E1-A0F1-C69D-7B671CD1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D9C41A-6441-7A5C-EAE1-D96C71F2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2B191F9-811A-57AC-7C29-28373D9D439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13368" r="13368"/>
          <a:stretch>
            <a:fillRect/>
          </a:stretch>
        </p:blipFill>
        <p:spPr/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F07A89-99C0-F91B-42D9-90B07573A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8634" y="1642616"/>
            <a:ext cx="3754943" cy="37454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660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>
            <a:normAutofit fontScale="90000"/>
          </a:bodyPr>
          <a:lstStyle/>
          <a:p>
            <a:r>
              <a:rPr lang="en-US" dirty="0"/>
              <a:t>Why Use GNN at all?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1623506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What does it do?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F44E43-BD27-EF72-1581-53AA4AF310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789" y="2035492"/>
            <a:ext cx="4392676" cy="817345"/>
          </a:xfrm>
        </p:spPr>
        <p:txBody>
          <a:bodyPr/>
          <a:lstStyle/>
          <a:p>
            <a:r>
              <a:rPr lang="en-US" dirty="0"/>
              <a:t>The syntactic graph created by the GNN is integrated using two rounds of message passing between and fused with the BERT encodings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9788" y="2845530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Fused Representation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B86718E9-DDD7-1435-E279-F0315E468F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439" r="7439"/>
          <a:stretch>
            <a:fillRect/>
          </a:stretch>
        </p:blipFill>
        <p:spPr/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431EBE3-4C82-3FA9-861A-3215498BF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058" y="4057507"/>
            <a:ext cx="6492188" cy="270507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25635A9-7328-6BAB-708F-FB9FCB5F3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606" y="3461970"/>
            <a:ext cx="4933456" cy="30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AA2A-138C-F82F-0513-81B9C76D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7238F32-88E6-C1DC-DBBA-22CC4889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9B42F3-BB61-81D2-1E6C-AF6BCD878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32D4941-F029-369C-5F04-CBD97EF78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00B3D2-32A3-A989-AFBB-2403A47AB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4E8989-8BFF-E50A-A601-8BD9AF7726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F81D9-8A05-C252-85C8-7B80F568E2A5}"/>
              </a:ext>
            </a:extLst>
          </p:cNvPr>
          <p:cNvSpPr/>
          <p:nvPr/>
        </p:nvSpPr>
        <p:spPr>
          <a:xfrm>
            <a:off x="6860432" y="0"/>
            <a:ext cx="53315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AB2DF629-2401-A087-2FF1-014FDE18D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434" y="484746"/>
            <a:ext cx="6026812" cy="602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1CD33FD-E310-B8E5-BC2F-83FCAC0AF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84" y="244395"/>
            <a:ext cx="6381214" cy="949467"/>
          </a:xfrm>
        </p:spPr>
        <p:txBody>
          <a:bodyPr/>
          <a:lstStyle/>
          <a:p>
            <a:r>
              <a:rPr lang="en-US" sz="3200" dirty="0">
                <a:solidFill>
                  <a:schemeClr val="accent1"/>
                </a:solidFill>
              </a:rPr>
              <a:t>Segment 2: </a:t>
            </a:r>
            <a:r>
              <a:rPr lang="en-US" sz="3200" dirty="0"/>
              <a:t>Financial Domain Adaption using </a:t>
            </a:r>
            <a:r>
              <a:rPr lang="en-US" sz="3200" dirty="0" err="1"/>
              <a:t>LoRA</a:t>
            </a:r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151C1-90EB-D5F8-4070-00F5ECED608E}"/>
              </a:ext>
            </a:extLst>
          </p:cNvPr>
          <p:cNvSpPr txBox="1"/>
          <p:nvPr/>
        </p:nvSpPr>
        <p:spPr>
          <a:xfrm>
            <a:off x="471948" y="1858297"/>
            <a:ext cx="585612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Some </a:t>
            </a:r>
            <a:r>
              <a:rPr lang="en-IN" sz="1600" b="1" u="sng" dirty="0" err="1"/>
              <a:t>Keypoints</a:t>
            </a:r>
            <a:r>
              <a:rPr lang="en-IN" sz="1600" b="1" u="sng" dirty="0"/>
              <a:t>:</a:t>
            </a:r>
          </a:p>
          <a:p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Specific finance terminology like ‘401k’ or  ‘529’ or ‘403b’ were perceived as just numbers in most cases without domain adaptation.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The domain adaptation training was done using the </a:t>
            </a:r>
            <a:r>
              <a:rPr lang="en-IN" sz="1600" dirty="0" err="1"/>
              <a:t>FinQA</a:t>
            </a:r>
            <a:r>
              <a:rPr lang="en-IN" sz="1600" dirty="0"/>
              <a:t> dataset which is a financial question answering dataset whose structure we modified to serve our use case.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The </a:t>
            </a:r>
            <a:r>
              <a:rPr lang="en-IN" sz="1600" dirty="0" err="1"/>
              <a:t>LoRA</a:t>
            </a:r>
            <a:r>
              <a:rPr lang="en-IN" sz="1600" dirty="0"/>
              <a:t> configuration is as follows:</a:t>
            </a:r>
            <a:br>
              <a:rPr lang="en-IN" dirty="0"/>
            </a:b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164B725-9CDC-65DF-B89F-895015E35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9" y="4875541"/>
            <a:ext cx="3482704" cy="14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08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9B44-8CA8-D4ED-6D1A-A42057BC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4B58C6-CFC5-7FC7-3049-4D0C50418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Visual Map Evidence of </a:t>
            </a:r>
            <a:r>
              <a:rPr lang="en-US" sz="3200" dirty="0"/>
              <a:t>The Domain Adaptation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123C-1D93-073F-1E75-2CF972FF9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407887-07C1-292B-6256-1A896760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4" y="1720637"/>
            <a:ext cx="9940412" cy="44426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750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D94D5F21-10A2-1540-6419-C75B36DA3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241" y="256761"/>
            <a:ext cx="6381214" cy="94946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Segment 3: </a:t>
            </a:r>
            <a:r>
              <a:rPr lang="en-US" sz="3200" dirty="0"/>
              <a:t>Span Extraction Head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E0A612D-E6BA-B093-9D41-514CAC1C20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B0AC94-FF1D-EDA0-83A9-BAFE2A63577D}"/>
              </a:ext>
            </a:extLst>
          </p:cNvPr>
          <p:cNvSpPr/>
          <p:nvPr/>
        </p:nvSpPr>
        <p:spPr>
          <a:xfrm>
            <a:off x="6921910" y="-23539"/>
            <a:ext cx="5270090" cy="68815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 descr="Generated image">
            <a:extLst>
              <a:ext uri="{FF2B5EF4-FFF2-40B4-BE49-F238E27FC236}">
                <a16:creationId xmlns:a16="http://schemas.microsoft.com/office/drawing/2014/main" id="{B66E371C-D338-D49A-8D46-F9F7BA0F9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364" y="1206228"/>
            <a:ext cx="4262284" cy="426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C6BF87F-CDA2-B9A5-BA59-5EDC08304703}"/>
              </a:ext>
            </a:extLst>
          </p:cNvPr>
          <p:cNvSpPr txBox="1"/>
          <p:nvPr/>
        </p:nvSpPr>
        <p:spPr>
          <a:xfrm>
            <a:off x="904568" y="1868129"/>
            <a:ext cx="56301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support fine-grained span-level predictions in call transcripts, we introduce a tunable plugin network atop the Base Model: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Nuanced queries, such as identifying whether an agent expressed appreciation require precise span localization.</a:t>
            </a:r>
            <a:br>
              <a:rPr lang="en-US" sz="1400" dirty="0"/>
            </a:br>
            <a:r>
              <a:rPr lang="en-US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Our plugin head addresses this by predicting start and end indices of relevant text spans using a multi-layer perceptron (MLP) with ReLU activations and dropout. </a:t>
            </a:r>
            <a:br>
              <a:rPr lang="en-US" sz="1400" dirty="0"/>
            </a:b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It receives the hidden states H ∈ R</a:t>
            </a:r>
            <a:r>
              <a:rPr lang="en-US" sz="1400" baseline="30000" dirty="0"/>
              <a:t>B×L×D </a:t>
            </a:r>
            <a:r>
              <a:rPr lang="en-US" sz="1400" dirty="0"/>
              <a:t>from the </a:t>
            </a:r>
            <a:r>
              <a:rPr lang="en-US" sz="1400" dirty="0" err="1"/>
              <a:t>BaseModel</a:t>
            </a:r>
            <a:r>
              <a:rPr lang="en-US" sz="1400" dirty="0"/>
              <a:t> and applies token-level classifiers:</a:t>
            </a:r>
            <a:br>
              <a:rPr lang="en-US" sz="1400" dirty="0"/>
            </a:br>
            <a:br>
              <a:rPr lang="en-US" sz="1400" dirty="0"/>
            </a:br>
            <a:endParaRPr lang="en-IN" sz="14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6ED5890-240E-DBA9-0BE8-487343600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967" y="4743101"/>
            <a:ext cx="3254022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6732237" cy="1017147"/>
          </a:xfrm>
        </p:spPr>
        <p:txBody>
          <a:bodyPr/>
          <a:lstStyle/>
          <a:p>
            <a:r>
              <a:rPr lang="en-US" dirty="0"/>
              <a:t>How are the spans decided?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A9CE73F3-60DE-B90A-6C59-0F70D0084BE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9376" r="29376"/>
          <a:stretch>
            <a:fillRect/>
          </a:stretch>
        </p:blipFill>
        <p:spPr/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82692FD-80AE-2B6D-E73C-E206E155C0B5}"/>
              </a:ext>
            </a:extLst>
          </p:cNvPr>
          <p:cNvSpPr txBox="1"/>
          <p:nvPr/>
        </p:nvSpPr>
        <p:spPr>
          <a:xfrm>
            <a:off x="914400" y="1927123"/>
            <a:ext cx="6086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During inference, the span extraction head predicts start and end indices for possible spans. To ensure robustness, token-level logits are converted into probability distributions using the </a:t>
            </a:r>
            <a:r>
              <a:rPr lang="en-US" sz="1600" dirty="0" err="1"/>
              <a:t>softmax</a:t>
            </a:r>
            <a:r>
              <a:rPr lang="en-US" sz="1600" dirty="0"/>
              <a:t> function shown by these two equations:</a:t>
            </a:r>
            <a:endParaRPr lang="en-IN" sz="1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4419374-6B3F-0840-FA1B-76AA3C176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99214"/>
            <a:ext cx="2819644" cy="150889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E3B3AA8-DAE6-B37D-0438-0585FDB1BBD0}"/>
              </a:ext>
            </a:extLst>
          </p:cNvPr>
          <p:cNvSpPr txBox="1"/>
          <p:nvPr/>
        </p:nvSpPr>
        <p:spPr>
          <a:xfrm>
            <a:off x="914400" y="4778477"/>
            <a:ext cx="56203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final span is determined by selecting the token pair (</a:t>
            </a:r>
            <a:r>
              <a:rPr lang="en-US" sz="1600" dirty="0" err="1"/>
              <a:t>i</a:t>
            </a:r>
            <a:r>
              <a:rPr lang="en-US" sz="1600" dirty="0"/>
              <a:t>, j) that maximizes the joint probability </a:t>
            </a:r>
            <a:r>
              <a:rPr lang="en-US" sz="1600" b="1" dirty="0" err="1"/>
              <a:t>P</a:t>
            </a:r>
            <a:r>
              <a:rPr lang="en-US" sz="1600" b="1" baseline="-25000" dirty="0" err="1"/>
              <a:t>start</a:t>
            </a:r>
            <a:r>
              <a:rPr lang="en-US" sz="1600" b="1" dirty="0"/>
              <a:t>(</a:t>
            </a:r>
            <a:r>
              <a:rPr lang="en-US" sz="1600" b="1" dirty="0" err="1"/>
              <a:t>i</a:t>
            </a:r>
            <a:r>
              <a:rPr lang="en-US" sz="1600" b="1" dirty="0"/>
              <a:t>) . P</a:t>
            </a:r>
            <a:r>
              <a:rPr lang="en-US" sz="1600" b="1" baseline="-25000" dirty="0"/>
              <a:t>end</a:t>
            </a:r>
            <a:r>
              <a:rPr lang="en-US" sz="1600" b="1" dirty="0"/>
              <a:t>(j), subject to the constraint </a:t>
            </a:r>
            <a:r>
              <a:rPr lang="en-US" sz="1600" b="1" dirty="0" err="1"/>
              <a:t>i</a:t>
            </a:r>
            <a:r>
              <a:rPr lang="en-US" sz="1600" b="1" dirty="0"/>
              <a:t> ≤ j</a:t>
            </a:r>
            <a:r>
              <a:rPr lang="en-US" sz="1600" dirty="0"/>
              <a:t>. If the ‘no span’ probability </a:t>
            </a:r>
            <a:r>
              <a:rPr lang="en-US" sz="1600" b="1" dirty="0" err="1"/>
              <a:t>P</a:t>
            </a:r>
            <a:r>
              <a:rPr lang="en-US" sz="1600" b="1" baseline="-25000" dirty="0" err="1"/>
              <a:t>no_span</a:t>
            </a:r>
            <a:r>
              <a:rPr lang="en-US" sz="1600" b="1" baseline="-25000" dirty="0"/>
              <a:t> </a:t>
            </a:r>
            <a:r>
              <a:rPr lang="en-US" sz="1600" b="1" dirty="0"/>
              <a:t>= σ(</a:t>
            </a:r>
            <a:r>
              <a:rPr lang="en-US" sz="1600" b="1" dirty="0" err="1"/>
              <a:t>no_span_logit</a:t>
            </a:r>
            <a:r>
              <a:rPr lang="en-US" sz="1600" b="1" dirty="0"/>
              <a:t>) </a:t>
            </a:r>
            <a:r>
              <a:rPr lang="en-US" sz="1600" dirty="0"/>
              <a:t>exceeds a predefined threshold, the model abstains from span extraction.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69167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9D28-EE6E-0E16-EEF4-2F0148EA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78CB34-6BDC-954D-CC57-E94594844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CreditCall12H: </a:t>
            </a:r>
            <a:r>
              <a:rPr lang="en-US" dirty="0"/>
              <a:t>Annotated </a:t>
            </a:r>
            <a:br>
              <a:rPr lang="en-US" dirty="0"/>
            </a:br>
            <a:r>
              <a:rPr lang="en-US" dirty="0"/>
              <a:t>Financial Conversations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69A1C-E377-9C4D-01E2-60B9F4A2DE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800" dirty="0"/>
              <a:t>Volume and context</a:t>
            </a:r>
          </a:p>
        </p:txBody>
      </p:sp>
      <p:pic>
        <p:nvPicPr>
          <p:cNvPr id="51" name="Picture Placeholder 50" descr="Abacus">
            <a:extLst>
              <a:ext uri="{FF2B5EF4-FFF2-40B4-BE49-F238E27FC236}">
                <a16:creationId xmlns:a16="http://schemas.microsoft.com/office/drawing/2014/main" id="{9073CF14-98FA-E334-285B-07DDF57EBBD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02" b="4502"/>
          <a:stretch/>
        </p:blipFill>
        <p:spPr>
          <a:xfrm>
            <a:off x="2239419" y="2833688"/>
            <a:ext cx="1005840" cy="9144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DD7D06-C381-9E46-0854-D75DBA7844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600" dirty="0"/>
              <a:t>Dataset generation</a:t>
            </a:r>
          </a:p>
        </p:txBody>
      </p:sp>
      <p:pic>
        <p:nvPicPr>
          <p:cNvPr id="53" name="Picture Placeholder 52" descr="3d Glasses">
            <a:extLst>
              <a:ext uri="{FF2B5EF4-FFF2-40B4-BE49-F238E27FC236}">
                <a16:creationId xmlns:a16="http://schemas.microsoft.com/office/drawing/2014/main" id="{C30ECAB0-B718-1949-9610-8BE7DB0B844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574" b="4574"/>
          <a:stretch/>
        </p:blipFill>
        <p:spPr>
          <a:xfrm>
            <a:off x="5572159" y="2954840"/>
            <a:ext cx="1005840" cy="914400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D80979-8C90-D03A-76A8-87AA76E342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>
            <a:normAutofit/>
          </a:bodyPr>
          <a:lstStyle/>
          <a:p>
            <a:r>
              <a:rPr lang="en-US" sz="1600" dirty="0"/>
              <a:t>Metrics of Evaluation</a:t>
            </a:r>
          </a:p>
        </p:txBody>
      </p:sp>
      <p:pic>
        <p:nvPicPr>
          <p:cNvPr id="55" name="Picture Placeholder 54" descr="Circuit">
            <a:extLst>
              <a:ext uri="{FF2B5EF4-FFF2-40B4-BE49-F238E27FC236}">
                <a16:creationId xmlns:a16="http://schemas.microsoft.com/office/drawing/2014/main" id="{6BC4D49D-677C-E352-AD39-822060F98FA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02" b="4502"/>
          <a:stretch/>
        </p:blipFill>
        <p:spPr>
          <a:xfrm>
            <a:off x="8916470" y="2833688"/>
            <a:ext cx="1005840" cy="9144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473ED-E4B8-3AF9-EF9E-1D4D08B5A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AutoShape 4" descr="Generated image">
            <a:extLst>
              <a:ext uri="{FF2B5EF4-FFF2-40B4-BE49-F238E27FC236}">
                <a16:creationId xmlns:a16="http://schemas.microsoft.com/office/drawing/2014/main" id="{61B875CD-7178-B547-82E2-3193EF863F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AB0EEF-BBEE-82BE-1C9D-3FB7EB567527}"/>
              </a:ext>
            </a:extLst>
          </p:cNvPr>
          <p:cNvSpPr/>
          <p:nvPr/>
        </p:nvSpPr>
        <p:spPr>
          <a:xfrm>
            <a:off x="5476568" y="3057832"/>
            <a:ext cx="1101431" cy="8114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61F693-C7FF-934C-5C9D-CAAB2CE3CE11}"/>
              </a:ext>
            </a:extLst>
          </p:cNvPr>
          <p:cNvSpPr/>
          <p:nvPr/>
        </p:nvSpPr>
        <p:spPr>
          <a:xfrm>
            <a:off x="8916470" y="2833688"/>
            <a:ext cx="1036111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C3F4FA-A706-A490-6311-AE1970A21DA9}"/>
              </a:ext>
            </a:extLst>
          </p:cNvPr>
          <p:cNvSpPr/>
          <p:nvPr/>
        </p:nvSpPr>
        <p:spPr>
          <a:xfrm>
            <a:off x="2189611" y="2954840"/>
            <a:ext cx="1101431" cy="8114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656D78-E898-D56F-4572-F809B3BD49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057833"/>
            <a:ext cx="2269020" cy="1825336"/>
          </a:xfrm>
        </p:spPr>
        <p:txBody>
          <a:bodyPr/>
          <a:lstStyle/>
          <a:p>
            <a:pPr algn="l"/>
            <a:r>
              <a:rPr lang="en-IN" sz="1200" dirty="0"/>
              <a:t>1,200 anonymized </a:t>
            </a:r>
            <a:r>
              <a:rPr lang="en-US" sz="1200" dirty="0"/>
              <a:t>long-form customer service transcripts. The conversations cover a wide range of credit card related </a:t>
            </a:r>
            <a:r>
              <a:rPr lang="en-IN" sz="1200" dirty="0"/>
              <a:t>interactions, such as payment failures, transaction </a:t>
            </a:r>
            <a:r>
              <a:rPr lang="en-US" sz="1200" dirty="0"/>
              <a:t>disputes, card activation, credit limit increases, and </a:t>
            </a:r>
            <a:r>
              <a:rPr lang="en-IN" sz="1200" dirty="0"/>
              <a:t>fraud prevention protocols.</a:t>
            </a:r>
            <a:endParaRPr lang="en-US" sz="12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F676E-6CFB-704F-DB69-7F5819C6A7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12315" y="2845518"/>
            <a:ext cx="2567370" cy="2484896"/>
          </a:xfrm>
        </p:spPr>
        <p:txBody>
          <a:bodyPr/>
          <a:lstStyle/>
          <a:p>
            <a:pPr algn="l"/>
            <a:r>
              <a:rPr lang="en-US" sz="1200" dirty="0"/>
              <a:t>These annotations were generated using a two-stage LLM-assisted labeling strategy. high-confidence extraction candidates were generated using ChatGPT4o. This allowed us to simulate noisy but realistic QA-style extraction in multi-turn dialogues, thereby creating a benchmark tailored to sentence-level relevance and call quality analysis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3254F1-3B23-18B5-9750-C231298E16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10303" y="2844006"/>
            <a:ext cx="2275880" cy="893763"/>
          </a:xfrm>
        </p:spPr>
        <p:txBody>
          <a:bodyPr/>
          <a:lstStyle/>
          <a:p>
            <a:pPr lvl="0" algn="l"/>
            <a:r>
              <a:rPr lang="en-US" sz="1200" dirty="0"/>
              <a:t>Accuracy, Precision, and F1-Score were chosen as the core metrics, given the many-to-many nature of valid sentence selection within each transcript.</a:t>
            </a:r>
          </a:p>
        </p:txBody>
      </p:sp>
    </p:spTree>
    <p:extLst>
      <p:ext uri="{BB962C8B-B14F-4D97-AF65-F5344CB8AC3E}">
        <p14:creationId xmlns:p14="http://schemas.microsoft.com/office/powerpoint/2010/main" val="112793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38BE-41A9-7335-7545-9A4B680F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F9575B-E7FC-76E5-1188-277AF6FD8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340" y="280712"/>
            <a:ext cx="9542206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Evaluation I: </a:t>
            </a:r>
            <a:r>
              <a:rPr lang="en-US" dirty="0"/>
              <a:t>Public Datasets with short corpus and generic text (LLM Judge)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E53BB-A479-653F-3F3A-02878B394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BE82AB-28F4-395D-4574-00FC330C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14" y="2421085"/>
            <a:ext cx="8685571" cy="2340619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10CDB6-149F-544F-9738-82414F05D394}"/>
              </a:ext>
            </a:extLst>
          </p:cNvPr>
          <p:cNvSpPr txBox="1"/>
          <p:nvPr/>
        </p:nvSpPr>
        <p:spPr>
          <a:xfrm>
            <a:off x="1226340" y="5466373"/>
            <a:ext cx="67252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Judge 1: </a:t>
            </a:r>
            <a:r>
              <a:rPr lang="en-IN" sz="1400" b="1" dirty="0" err="1"/>
              <a:t>facebook</a:t>
            </a:r>
            <a:r>
              <a:rPr lang="en-IN" sz="1400" b="1" dirty="0"/>
              <a:t>/</a:t>
            </a:r>
            <a:r>
              <a:rPr lang="en-IN" sz="1400" b="1" dirty="0" err="1"/>
              <a:t>bart</a:t>
            </a:r>
            <a:r>
              <a:rPr lang="en-IN" sz="1400" b="1" dirty="0"/>
              <a:t>-large-</a:t>
            </a:r>
            <a:r>
              <a:rPr lang="en-IN" sz="1400" b="1" dirty="0" err="1"/>
              <a:t>mnli</a:t>
            </a:r>
            <a:br>
              <a:rPr lang="en-IN" sz="1400" b="1" dirty="0"/>
            </a:br>
            <a:r>
              <a:rPr lang="en-IN" sz="1400" b="1" dirty="0"/>
              <a:t>Judge 2:  </a:t>
            </a:r>
            <a:r>
              <a:rPr lang="en-IN" sz="1400" b="1" dirty="0" err="1"/>
              <a:t>roberta</a:t>
            </a:r>
            <a:r>
              <a:rPr lang="en-IN" sz="1400" b="1" dirty="0"/>
              <a:t>-large-</a:t>
            </a:r>
            <a:r>
              <a:rPr lang="en-IN" sz="1400" b="1" dirty="0" err="1"/>
              <a:t>mnli</a:t>
            </a:r>
            <a:br>
              <a:rPr lang="en-IN" sz="1400" b="1" dirty="0"/>
            </a:br>
            <a:r>
              <a:rPr lang="en-IN" sz="1400" b="1" dirty="0"/>
              <a:t>Judge 3: </a:t>
            </a:r>
            <a:r>
              <a:rPr lang="en-IN" sz="1400" b="1" dirty="0" err="1"/>
              <a:t>microsoft</a:t>
            </a:r>
            <a:r>
              <a:rPr lang="en-IN" sz="1400" b="1" dirty="0"/>
              <a:t>/</a:t>
            </a:r>
            <a:r>
              <a:rPr lang="en-IN" sz="1400" b="1" dirty="0" err="1"/>
              <a:t>deberta</a:t>
            </a:r>
            <a:r>
              <a:rPr lang="en-IN" sz="1400" b="1" dirty="0"/>
              <a:t>-large-</a:t>
            </a:r>
            <a:r>
              <a:rPr lang="en-IN" sz="1400" b="1" dirty="0" err="1"/>
              <a:t>mnli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690077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65933-0846-B26E-90B1-5EF49B74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AB9022-781F-228E-13DF-B0229D9AF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Model Training Workflow 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dirty="0"/>
              <a:t>(on CreditCall12H Dataset)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0E2EE-43FB-600F-8FAC-283DFBCCA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8148A-76E9-EAB8-91EB-DF9560CA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34" y="1417145"/>
            <a:ext cx="8900931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39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8C5B-9DA7-FAAB-4FB4-7A3655B1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664545-576A-A65E-195C-9D9776F4F65D}"/>
              </a:ext>
            </a:extLst>
          </p:cNvPr>
          <p:cNvSpPr/>
          <p:nvPr/>
        </p:nvSpPr>
        <p:spPr>
          <a:xfrm>
            <a:off x="1306676" y="4444940"/>
            <a:ext cx="3435881" cy="141584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EE68FD-88FE-C9A0-B627-4129FA956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340" y="280712"/>
            <a:ext cx="9542206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Evaluation II: </a:t>
            </a:r>
            <a:r>
              <a:rPr lang="en-US" dirty="0"/>
              <a:t>CreditCall12H Dataset (Standard Metrics)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A9E7-5D4C-C8F3-8C12-E95D1B8D6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959E4-7429-9B72-FC5F-E24184D8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76" y="1791716"/>
            <a:ext cx="6801335" cy="4499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43750-8845-DD5C-557D-4BF1725C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5" y="1791716"/>
            <a:ext cx="4206605" cy="2453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12A07C-BA88-D867-5D1F-D80C993E0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596" y="4556146"/>
            <a:ext cx="3364043" cy="8746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7C9CF0-7E42-D482-EEC7-E7F67E223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112" y="5430797"/>
            <a:ext cx="1156404" cy="3105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B40AB8-E4C6-1B42-C054-590FB6A12597}"/>
              </a:ext>
            </a:extLst>
          </p:cNvPr>
          <p:cNvSpPr txBox="1"/>
          <p:nvPr/>
        </p:nvSpPr>
        <p:spPr>
          <a:xfrm>
            <a:off x="307389" y="4866595"/>
            <a:ext cx="1098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Dynamic Thresholding</a:t>
            </a:r>
          </a:p>
        </p:txBody>
      </p:sp>
    </p:spTree>
    <p:extLst>
      <p:ext uri="{BB962C8B-B14F-4D97-AF65-F5344CB8AC3E}">
        <p14:creationId xmlns:p14="http://schemas.microsoft.com/office/powerpoint/2010/main" val="2087635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90CE-88FB-8CF5-99DA-63631CA4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232261-9116-68DB-BE33-2732EBF95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340" y="280712"/>
            <a:ext cx="9542206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Fin-</a:t>
            </a:r>
            <a:r>
              <a:rPr lang="en-US" dirty="0" err="1">
                <a:solidFill>
                  <a:schemeClr val="accent1"/>
                </a:solidFill>
              </a:rPr>
              <a:t>ExBERT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Key Highlights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F3D3B-3F6E-D283-62B6-6C37AD94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5"/>
          <a:stretch>
            <a:fillRect/>
          </a:stretch>
        </p:blipFill>
        <p:spPr>
          <a:xfrm>
            <a:off x="4460582" y="2003768"/>
            <a:ext cx="7232196" cy="3049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63DF0-6934-7EAB-F8BF-896D2C88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22" y="2640206"/>
            <a:ext cx="3655399" cy="19369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D5C059-BD1F-6D06-0243-A06F3FC3D617}"/>
              </a:ext>
            </a:extLst>
          </p:cNvPr>
          <p:cNvSpPr txBox="1"/>
          <p:nvPr/>
        </p:nvSpPr>
        <p:spPr>
          <a:xfrm>
            <a:off x="499222" y="5619843"/>
            <a:ext cx="4542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*Fin-</a:t>
            </a:r>
            <a:r>
              <a:rPr lang="en-IN" sz="1400" b="1" dirty="0" err="1"/>
              <a:t>ExBERT</a:t>
            </a:r>
            <a:r>
              <a:rPr lang="en-IN" sz="1400" b="1" dirty="0"/>
              <a:t> can infer 500 transcripts in 12 seconds</a:t>
            </a:r>
          </a:p>
        </p:txBody>
      </p:sp>
    </p:spTree>
    <p:extLst>
      <p:ext uri="{BB962C8B-B14F-4D97-AF65-F5344CB8AC3E}">
        <p14:creationId xmlns:p14="http://schemas.microsoft.com/office/powerpoint/2010/main" val="114212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DE847394-0E19-626E-FF63-AC88B3FEEE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404" r="4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297473015AAC40B662DEA59C1273BF" ma:contentTypeVersion="4" ma:contentTypeDescription="Create a new document." ma:contentTypeScope="" ma:versionID="5257254dd23b739d937e68b437e609b2">
  <xsd:schema xmlns:xsd="http://www.w3.org/2001/XMLSchema" xmlns:xs="http://www.w3.org/2001/XMLSchema" xmlns:p="http://schemas.microsoft.com/office/2006/metadata/properties" xmlns:ns3="20bf737b-9031-4d1e-b561-1c2583ea4d47" targetNamespace="http://schemas.microsoft.com/office/2006/metadata/properties" ma:root="true" ma:fieldsID="20201c9956513ab528a39e03aa8706d0" ns3:_="">
    <xsd:import namespace="20bf737b-9031-4d1e-b561-1c2583ea4d4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f737b-9031-4d1e-b561-1c2583ea4d4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E11EC4-AF13-4A6E-A5E0-5A264B291FD2}">
  <ds:schemaRefs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20bf737b-9031-4d1e-b561-1c2583ea4d4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ACD227D-A683-415D-A610-20912E1CEA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DF167A-EDD2-4474-AC57-4773C78D52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bf737b-9031-4d1e-b561-1c2583ea4d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643</TotalTime>
  <Words>863</Words>
  <Application>Microsoft Office PowerPoint</Application>
  <PresentationFormat>Widescreen</PresentationFormat>
  <Paragraphs>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Book Antiqua</vt:lpstr>
      <vt:lpstr>Calibri</vt:lpstr>
      <vt:lpstr>Century Gothic</vt:lpstr>
      <vt:lpstr>Courier New</vt:lpstr>
      <vt:lpstr>Custom</vt:lpstr>
      <vt:lpstr>Fin-ExBERT</vt:lpstr>
      <vt:lpstr>Objectives of Intent based text Extraction Tasks in Financial context</vt:lpstr>
      <vt:lpstr>Gaps in Modern Techniques</vt:lpstr>
      <vt:lpstr>Inference Examples:  How the model extracts target spans</vt:lpstr>
      <vt:lpstr>Methodology: Overall Architecture</vt:lpstr>
      <vt:lpstr>Distinct Segments of The Methodology</vt:lpstr>
      <vt:lpstr>Segment 1: The Base Model</vt:lpstr>
      <vt:lpstr>Why Use GNN at all?</vt:lpstr>
      <vt:lpstr>Segment 2: Financial Domain Adaption using LoRA</vt:lpstr>
      <vt:lpstr>Visual Map Evidence of The Domain Adaptation</vt:lpstr>
      <vt:lpstr>Segment 3: Span Extraction Head</vt:lpstr>
      <vt:lpstr>How are the spans decided?</vt:lpstr>
      <vt:lpstr>CreditCall12H: Annotated  Financial Conversations</vt:lpstr>
      <vt:lpstr>Evaluation I: Public Datasets with short corpus and generic text (LLM Judge)</vt:lpstr>
      <vt:lpstr>Model Training Workflow  (on CreditCall12H Dataset)</vt:lpstr>
      <vt:lpstr>Evaluation II: CreditCall12H Dataset (Standard Metrics)</vt:lpstr>
      <vt:lpstr>Fin-ExBERT: Key Highlights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#SARKER SOUMICK#</dc:creator>
  <cp:lastModifiedBy>#SARKER SOUMICK#</cp:lastModifiedBy>
  <cp:revision>2</cp:revision>
  <dcterms:created xsi:type="dcterms:W3CDTF">2025-07-28T07:01:55Z</dcterms:created>
  <dcterms:modified xsi:type="dcterms:W3CDTF">2025-07-31T12:30:12Z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0x0101001F297473015AAC40B662DEA59C1273BF</vt:lpwstr>
  </property>
</Properties>
</file>